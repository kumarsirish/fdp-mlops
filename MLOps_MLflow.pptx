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26"/>
    <p:sldId id="259" r:id="rId30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28"/>
    <p:sldId id="270" r:id="rId29"/>
    <p:sldId id="271" r:id="rId31"/>
    <p:sldId id="272" r:id="rId32"/>
    <p:sldId id="273" r:id="rId33"/>
    <p:sldId id="274" r:id="rId18"/>
    <p:sldId id="275" r:id="rId19"/>
    <p:sldId id="27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1" Type="http://schemas.openxmlformats.org/officeDocument/2006/relationships/slide" Target="slides/slide15.xml"/><Relationship Id="rId26" Type="http://schemas.openxmlformats.org/officeDocument/2006/relationships/slide" Target="slides/slide20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13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what MLflow is, the four problems it solves, and how its pieces fit together. Everything shown is open-source and was used in our hands-on Colab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how do YOU keep track of experiments today? These three questions — best run, reproducibility, production version — are the motivation for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one-sentence concept: experiments become queryable data. The four payoffs build on each other — reproducibility enables comparison, comparison enables collaboration, and all three enable governance. Analogy for faculty: MLflow is the lab notebook of computational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MLflow is library-agnostic: PyTorch, TensorFlow, scikit-learn, XGBoost all work. The four components are independent — many teams adopt Tracking first, then the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words to remember: parameters are what you TRIED, metrics are what HAPPENED, artifacts are what was PRODUCED. An experiment is just a folder of comparable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hyperparameters (chosen by us, before training) from parameters/weights (learned by the model). We only swept the learning rate in the demo; ask students which knob they would sweep next and why. Note the seed is a hyperparameter too — logging it is what makes a run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how little code this is — three logging calls wrapped around the training loop students already write. The 'with' block defines the run boundary; everything logged inside belongs to that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left-to-right, top-to-bottom — this is exactly the cell order of the Colab notebook. Point out that MLflow only touches steps 3-5: it wraps the normal PyTorch workflow rather than replacing it. Steps 1, 2, and 6 would look identical without MLflow.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live-demo moment: open the MLflow UI from the Colab notebook and sort by val_accuracy. search_runs returns a pandas DataFrame — students can analyze their own experiments with tools they already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MLmodel file is the key idea: a model plus instructions for loading it, in any supported 'flavor' (pytorch, sklearn, onnx...). This is what makes the next step — a registry —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registry is governance: who approved which version, when, and why. In our notebook we registered the best sweep run as version 1 and reloaded it by name. Note: newer MLflow versions replace stages with aliases like @champion — same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reassurance: the API is identical everywhere — set_tracking_uri is the only line that changes between a laptop, Colab, and a production server. Params/metrics go to a database; large artifacts go to object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 framing: W&amp;B has the nicest UI and is popular in research labs; TensorBoard is fine if all you want is curves; DVC is a complement, not a competitor — many teams run MLflow plus DVC together. For a university setting, open-source and self-hostable usually wins, which is why this course uses MLflow.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habits. Assignment idea: students track their own course project with MLflow and submit a screenshot of their leaderboard instead of a results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MLflow is library-agnostic: PyTorch, TensorFlow, scikit-learn, XGBoost all work. The four components are independent — many teams adopt Tracking first, then the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hyperparameters (chosen by us, before training) from parameters/weights (learned by the model). We only swept the learning rate in the demo; ask students which knob they would sweep next and why. Note the seed is a hyperparameter too — logging it is what makes a run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how little code this is — three logging calls wrapped around the training loop students already write. The 'with' block defines the run boundary; everything logged inside belongs to that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left-to-right, top-to-bottom — this is exactly the cell order of the Colab notebook. Point out that MLflow only touches steps 3-5: it wraps the normal PyTorch workflow rather than replacing it. Steps 1, 2, and 6 would look identical without MLflow.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live-demo moment: open the MLflow UI from the Colab notebook and sort by val_accuracy. search_runs returns a pandas DataFrame — students can analyze their own experiments with tools they already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MLmodel file is the key idea: a model plus instructions for loading it, in any supported 'flavor' (pytorch, sklearn, onnx...). This is what makes the next step — a registry —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registry is governance: who approved which version, when, and why. In our notebook we registered the best sweep run as version 1 and reloaded it by name. Note: newer MLflow versions replace stages with aliases like @champion — same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 &amp; MLflow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Production Discipline to Experiment Tracking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as the discipline  ·  MLflow as the tool  ·  Ship with confidence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teaching session on ML engineering for faculty &amp; students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ML needs better tooling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in experiment tracking and production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4533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run produced this model?”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154533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live in terminal scrollback and memory. Nobody knows which params produced the 98% — MLflow fixes this with automatic logging.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we roll back the model?”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0" y="26243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was manual — no previous version archived, no audit trail, no safe rollback path. MLOps registry + CI/CD fixes this.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75304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model is in production?”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37033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files are emailed around as model_new_latest.pt with no version or owner.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MLflow: the experiment tracking tool inside MLOps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is the discipline — MLflow is the open-source tool that implements the tracking and registry pillars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MLflow principle: treat experiments as </a:t>
            </a:r>
            <a:r>
              <a:rPr lang="en-US" sz="2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r>
              <a:rPr lang="en-US" sz="2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MLOps: treat models as software.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886200" cy="1051560"/>
          </a:xfrm>
          <a:prstGeom prst="roundRect">
            <a:avLst>
              <a:gd name="adj" fmla="val 5217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2350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tracking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66090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ties every result to exact parameters, code, and environment — no more “which run was best?”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2240280"/>
            <a:ext cx="3886200" cy="1051560"/>
          </a:xfrm>
          <a:prstGeom prst="roundRect">
            <a:avLst>
              <a:gd name="adj" fmla="val 5217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10328" y="2350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910328" y="266090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CI/CD pipelines train, evaluate, and register models on every commit — no manual steps between lab and production.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3886200" cy="1051560"/>
          </a:xfrm>
          <a:prstGeom prst="roundRect">
            <a:avLst>
              <a:gd name="adj" fmla="val 5217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49808" y="3584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governance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389534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monitors live models for drift, enforces quality gates, and keeps a full audit trail for every version.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3474720"/>
            <a:ext cx="3886200" cy="1051560"/>
          </a:xfrm>
          <a:prstGeom prst="roundRect">
            <a:avLst>
              <a:gd name="adj" fmla="val 5217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10328" y="3584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910328" y="389534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auditable models answer regulators and reviewers, not just colleagues.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gives you the lab notebook. MLOps gives you the production pipeline. Together they close the gap.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MLflow?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open-source platform, four components — use any of them independently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74520" cy="2468880"/>
          </a:xfrm>
          <a:prstGeom prst="roundRect">
            <a:avLst>
              <a:gd name="adj" fmla="val 3415"/>
            </a:avLst>
          </a:prstGeom>
          <a:solidFill>
            <a:srgbClr val="0E7490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286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944" y="283464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parameters, metrics, and artifacts for every run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28900" y="1554480"/>
            <a:ext cx="1874520" cy="2468880"/>
          </a:xfrm>
          <a:prstGeom prst="roundRect">
            <a:avLst>
              <a:gd name="adj" fmla="val 3415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28900" y="1783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38628" y="2286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75204" y="283464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 trained model in a standard, portable format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1874520" cy="2468880"/>
          </a:xfrm>
          <a:prstGeom prst="roundRect">
            <a:avLst>
              <a:gd name="adj" fmla="val 3415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18888" y="2286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Registry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55464" y="283464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models and manage their lifecycle stages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89420" y="1554480"/>
            <a:ext cx="1874520" cy="2468880"/>
          </a:xfrm>
          <a:prstGeom prst="roundRect">
            <a:avLst>
              <a:gd name="adj" fmla="val 3415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789420" y="1783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99148" y="2286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35724" y="283464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training code itself reproducible and runnable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focus on Tracking and the Registry — the two you will use every day.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— the core vocabulary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experiment groups runs; every run records three kinds of information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749040" cy="3200400"/>
          </a:xfrm>
          <a:prstGeom prst="roundRect">
            <a:avLst>
              <a:gd name="adj" fmla="val 1714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 “mnist-cnn-mlops”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97280" y="23317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·  lr = 0.0005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044952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30449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·  lr = 0.001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758184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97280" y="37581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·  lr = 0.005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481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run records: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19385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54880" y="22311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you chose — learning rate, epochs, batch size, seed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2852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754880" y="31455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over time — loss and accuracy logged per epoch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3767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54880" y="40599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produced — the trained model, plots, requirements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hyperparameters of our MNIST CNN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“parameters” MLflow logs — the knobs we chose, not what the model learns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lr (learning rate)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size of each weight update — too high diverges, too low crawls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swept: 0.0005 / 0.001 / 0.005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epochs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passes over the 60k training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(kept small for a live demo)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batch_size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 per gradient step — speed &amp; memory vs. gradient noise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optimizer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update rule applied to gradients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 random init &amp; shuffling so runs are repeatable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 the notebook these live in one </a:t>
            </a:r>
            <a:r>
              <a:rPr lang="en-US" sz="12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dict — exactly what </a:t>
            </a:r>
            <a:r>
              <a:rPr lang="en-US" sz="12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mlflow.log_params(CONFIG)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records for every run.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in five lines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API surface you need on day 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3154680"/>
          </a:xfrm>
          <a:prstGeom prst="roundRect">
            <a:avLst>
              <a:gd name="adj" fmla="val 1739"/>
            </a:avLst>
          </a:prstGeom>
          <a:solidFill>
            <a:srgbClr val="F4F6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mlflow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mlflow.set_experiment("mnist-cnn")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mlflow.start_run():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mlflow.log_params(config)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epoch in range(epochs):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train(...)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mlflow.log_metric(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"val_acc", acc, step=epoch)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mlflow.pytorch.log_model(model)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26480" y="1691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log_params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run — what you tried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26480" y="2651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log_metric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2953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epoch — how it is going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0" y="3611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at the end — the result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of the notebook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MLflow call sits in the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1325880"/>
          </a:xfrm>
          <a:prstGeom prst="roundRect">
            <a:avLst>
              <a:gd name="adj" fmla="val 4828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7465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Load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768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MNIST → train / test loaders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63240" y="2258568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429000" y="1600200"/>
            <a:ext cx="2468880" cy="1325880"/>
          </a:xfrm>
          <a:prstGeom prst="roundRect">
            <a:avLst>
              <a:gd name="adj" fmla="val 4828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11880" y="17465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Define model + config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22768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SmallCNN, CONFIG dict, set_seed()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2258568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2468880" cy="1325880"/>
          </a:xfrm>
          <a:prstGeom prst="roundRect">
            <a:avLst>
              <a:gd name="adj" fmla="val 4828"/>
            </a:avLst>
          </a:prstGeom>
          <a:solidFill>
            <a:srgbClr val="0E7490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92240" y="17465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Train (3 runs)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2768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log_params · log_metric per epoch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2468880" cy="1325880"/>
          </a:xfrm>
          <a:prstGeom prst="roundRect">
            <a:avLst>
              <a:gd name="adj" fmla="val 4828"/>
            </a:avLst>
          </a:prstGeom>
          <a:solidFill>
            <a:srgbClr val="0E7490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4381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Save &amp; compare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9684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log_model · search_runs leaderboard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63240" y="3950208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429000" y="3291840"/>
            <a:ext cx="2468880" cy="1325880"/>
          </a:xfrm>
          <a:prstGeom prst="roundRect">
            <a:avLst>
              <a:gd name="adj" fmla="val 4828"/>
            </a:avLst>
          </a:prstGeom>
          <a:solidFill>
            <a:srgbClr val="0E7490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11880" y="34381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Register best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39684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register_model → mnist-cnn v1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3950208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309360" y="3291840"/>
            <a:ext cx="2468880" cy="1325880"/>
          </a:xfrm>
          <a:prstGeom prst="roundRect">
            <a:avLst>
              <a:gd name="adj" fmla="val 4828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92240" y="34381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Validate &amp; serve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39684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gates → Gradio app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43800" y="2944368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783080" y="3127248"/>
            <a:ext cx="0" cy="14630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783080" y="3127248"/>
            <a:ext cx="5760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47365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steps are where MLflow does its work — the rest is the PyTorch you already know.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logs to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become a table you can sort, filter, and chart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val_accuracy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train_loss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lr=0.001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lr=0.0005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lr=0.005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ui  →  the same table in your browser, with charts and run diffs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0" y="155448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172200" y="1719072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it like a database: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mlflow.search_runs(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experiment_names=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["mnist-cnn"])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Picking a winner is now a query, not a memory exercise.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MLflow Models — a standard package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log_model() saves more than weights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MLmodel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34440" y="2313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how to load &amp; serve 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624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model.pth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234440" y="2880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weights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3191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conda.yaml / requirements.txt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234440" y="3447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environment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758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input_example.json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234440" y="40142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 (optional)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0" y="19019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load it with one line — no “works on my machine.”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0" y="2560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Self-describing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0" y="28620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that trained it travels with it.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Servable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0" y="38221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models serve turns it into a REST API.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Registry — versions with a lifecycle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name, many versions, a clear answer to “what is in production?”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models:/mnist-cnn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0E7490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2880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23360" y="1600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by name, not by file path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023360" y="191109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mlflow.pytorch.load_model("models:/mnist-cnn/2")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2606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provenance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023360" y="291693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links back to the exact run, parameters, and metrics that produced it.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23360" y="3611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rollback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023360" y="392277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misbehaving? Point back to the previous version — no retraining.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ML engineering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sits in the middle — data versioning below, serving &amp; CI/CD above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286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993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Features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/ feature store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datasets &amp; pipelines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286000" cy="1737360"/>
          </a:xfrm>
          <a:prstGeom prst="roundRect">
            <a:avLst>
              <a:gd name="adj" fmla="val 3158"/>
            </a:avLst>
          </a:prstGeom>
          <a:solidFill>
            <a:srgbClr val="0E7490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66160" y="1993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MLflow Platform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11880" y="2395728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experiments, hosts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&amp; artifacts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2286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46520" y="1993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&amp; Serving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0" y="2395728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server, drift monitors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52928" y="269748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733288" y="269748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Day 1: all three on your laptop in ./mlruns.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Day 100: managed cloud services for each layer — same MLflow API throughout.  </a:t>
            </a:r>
            <a:r>
              <a:rPr lang="en-US" sz="13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./mlruns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folder.  In a team: a shared server with a database and S3/GCS storage.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ML tooling landscape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anchors experiment tracking; complementary tools handle the rest of the stack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stack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tracking &amp; model registry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+ registry + serving in one; library-agnostic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Plainer UI than commercial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 &amp; Biases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Richer experiment dashboards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Polished dashboards, easy team sharing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data lives in their cloud; paid at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viewer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live training curves, zero setup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run management, no registry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Neptune / Comet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SaaS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metadata and collaboration 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 and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Versions data &amp; pipelines (git-style)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Complements tracking, does not replace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MLflow + GitHub Actions for CI/CD; add monitoring (Evidently/Grafana) and data versioning (DVC) as you scale.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286000"/>
          </a:xfrm>
          <a:prstGeom prst="roundRect">
            <a:avLst>
              <a:gd name="adj" fmla="val 2800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and version everything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Params, metrics, artifacts — if it is not logged, it did not happen.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560320" cy="2286000"/>
          </a:xfrm>
          <a:prstGeom prst="roundRect">
            <a:avLst>
              <a:gd name="adj" fmla="val 2800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520440" y="1600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the path to production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2044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evaluate, register, and deploy via CI/CD pipelines — every hand-off automated, every gate enforced, zero manual steps.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2800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09360" y="1600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and govern in production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degrade silently. Set drift alerts, latency budgets, and auto-rollback. The registry answers “what is live and who approved it?”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Learn more:   </a:t>
            </a:r>
            <a:r>
              <a:rPr lang="en-US" sz="13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mlflow.org/docs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·    ml-ops.org    ·    hands-on Colab notebook from this course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MLOps?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discipline, four pillars — each addresses a distinct production ML failure mode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74520" cy="2468880"/>
          </a:xfrm>
          <a:prstGeom prst="roundRect">
            <a:avLst>
              <a:gd name="adj" fmla="val 3415"/>
            </a:avLst>
          </a:prstGeom>
          <a:solidFill>
            <a:srgbClr val="0E7490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286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for ML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944" y="283464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build, test, and deploy pipelines for every model change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28900" y="1554480"/>
            <a:ext cx="1874520" cy="2468880"/>
          </a:xfrm>
          <a:prstGeom prst="roundRect">
            <a:avLst>
              <a:gd name="adj" fmla="val 3415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28900" y="1783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38628" y="2286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75204" y="283464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data drift, prediction bias, and latency in production 24/7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1874520" cy="2468880"/>
          </a:xfrm>
          <a:prstGeom prst="roundRect">
            <a:avLst>
              <a:gd name="adj" fmla="val 3415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18888" y="2286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55464" y="283464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models, enforce quality gates, and maintain full audit lineage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89420" y="1554480"/>
            <a:ext cx="1874520" cy="2468880"/>
          </a:xfrm>
          <a:prstGeom prst="roundRect">
            <a:avLst>
              <a:gd name="adj" fmla="val 3415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789420" y="1783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99148" y="2286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 &amp; Scale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35724" y="283464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training, serve at scale, and manage compute resources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cover each pillar in this session — with MLflow as the primary tool for tracking and registry.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versioning and 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starts before training — with locked, versioned datasets and deterministic features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Full provenance log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 in MLOps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practice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 version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Pinning the exact dataset snapshot ensures training is reproducible and auditable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DVC tag or dataset hash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 pipeline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transforms must be identical at train time and serve time — training-serving skew is the #1 silent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Code-as-config, versioned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 splits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Train/val/test splits fixed by Data lineage — leaking future data into training inflates metrics and breaks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Seed-fixed, no shuffling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Schema validation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input schema on every batch — catch upstream changes before they corrupt the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Expectations / Pandera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 lineage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where each training row came from — required for audits and for debugging production incidents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provenance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MLflow, DVC, or a feature store — the tool differs; the discipline of versioning everything is universal.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CI/CD in a GitHub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train-evaluate-register on every push to main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3154680"/>
          </a:xfrm>
          <a:prstGeom prst="roundRect">
            <a:avLst>
              <a:gd name="adj" fmla="val 1739"/>
            </a:avLst>
          </a:prstGeom>
          <a:solidFill>
            <a:srgbClr val="F4F6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.github/workflows/retrain.yml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push: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branches: [main]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retrain: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runs-on: ubuntu-latest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steps: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- run: python train.py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- run: python evaluate.py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26480" y="1691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on_push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every commit to main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26480" y="2651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2953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must exceed threshold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0" y="3611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to staging on pass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MLOps workflow — end to 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 — we will drill into each stage with MLflow as the tracking backbone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1325880"/>
          </a:xfrm>
          <a:prstGeom prst="roundRect">
            <a:avLst>
              <a:gd name="adj" fmla="val 4828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7465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Ingest &amp; version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768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data → versioned dataset with DVC or feature store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63240" y="2258568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429000" y="1600200"/>
            <a:ext cx="2468880" cy="1325880"/>
          </a:xfrm>
          <a:prstGeom prst="roundRect">
            <a:avLst>
              <a:gd name="adj" fmla="val 4828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11880" y="17465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Train with tracking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22768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 logs params, per-epoch metrics, and the final artifact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2258568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2468880" cy="1325880"/>
          </a:xfrm>
          <a:prstGeom prst="roundRect">
            <a:avLst>
              <a:gd name="adj" fmla="val 4828"/>
            </a:avLst>
          </a:prstGeom>
          <a:solidFill>
            <a:srgbClr val="0E7490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92240" y="17465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Evaluate &amp; gate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2768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Automated checks: accuracy, bias, latency, schema validation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2468880" cy="1325880"/>
          </a:xfrm>
          <a:prstGeom prst="roundRect">
            <a:avLst>
              <a:gd name="adj" fmla="val 4828"/>
            </a:avLst>
          </a:prstGeom>
          <a:solidFill>
            <a:srgbClr val="0E7490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4381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Register &amp; tag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9684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run promoted to model registry — staging or production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63240" y="3950208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429000" y="3291840"/>
            <a:ext cx="2468880" cy="1325880"/>
          </a:xfrm>
          <a:prstGeom prst="roundRect">
            <a:avLst>
              <a:gd name="adj" fmla="val 4828"/>
            </a:avLst>
          </a:prstGeom>
          <a:solidFill>
            <a:srgbClr val="0E7490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11880" y="34381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Deploy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39684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image built and pushed to serving endpoint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3950208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309360" y="3291840"/>
            <a:ext cx="2468880" cy="1325880"/>
          </a:xfrm>
          <a:prstGeom prst="roundRect">
            <a:avLst>
              <a:gd name="adj" fmla="val 4828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92240" y="34381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Monitor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39684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alerts, latency dashboards, auto-rollback triggers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43800" y="2944368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783080" y="3127248"/>
            <a:ext cx="0" cy="14630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783080" y="3127248"/>
            <a:ext cx="5760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47365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steps are where automation replaces manual work — the rest is ML you already know.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type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type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— catching silent failures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type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degrade without warning; monitoring is the safety net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type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type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type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type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type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type=input distribution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type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distribution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type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PSI 0.2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type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 alert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type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type=output skew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type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skew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type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5% shift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type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type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type=accuracy drop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type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drop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type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95% SLA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type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rollback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type val="D7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type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type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/ Grafana  →  live dashboards showing signal health in real time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0" y="1554480"/>
            <a:ext cx="2743200" cy="1828800"/>
          </a:xfrm>
          <a:prstGeom prst="roundRect">
            <a:avLst>
              <a:gd name="adj" fmla="val 3000"/>
            </a:avLst>
          </a:prstGeom>
          <a:solidFill>
            <a:srgbCtype val="F4F6F8"/>
          </a:solidFill>
          <a:ln w="9525">
            <a:solidFill>
              <a:srgbCtype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172200" y="1719072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type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thresholds: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type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type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drift_score &gt; threshold: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type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trigger_retraining()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type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alert_on_call()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type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degradation is now automatic, not a surprise incident.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type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typeMapOvr>
    <a:masterCtypeMapping/>
  </p:ctype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serving — from artifact to API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trained model, multiple deployment targets, zero manual steps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E8F4F8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Serving options: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REST API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34440" y="2313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models serve  →  instant HTTP endpoint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624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Batch scoring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234440" y="2880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or pandas on schedule for offline predictions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3191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Edge / embedded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234440" y="3447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 for on-device inference without a server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758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Streaming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234440" y="40142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 for real-time, event-driven scoring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Blue-Green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0" y="19019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load it with one line — no “works on my machine.”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0" y="2560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Canary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0" y="28620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 shift traffic from v1 to v2 — catch regressions before they are widespread.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0" y="38221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v2 in parallel with v1, log both outputs, compare offline — zero user risk.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governance — versions with accountability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carries who approved it, why, and what data produced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models:/fraud-detector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0E7490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2880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23360" y="1600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by policy, not by email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023360" y="191109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mlflow.register_model(); CI enforces quality gates before staging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2606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023360" y="291693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asks “what model scored this customer?” — lineage answers instantly.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23360" y="3611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023360" y="392277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 attached to each version document fairness metrics, known limitations, and intended use.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1978</Words>
  <Application>Microsoft Office PowerPoint</Application>
  <PresentationFormat>On-screen Show (16:9)</PresentationFormat>
  <Paragraphs>270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MLflow Concepts</dc:title>
  <dc:subject>PptxGenJS Presentation</dc:subject>
  <dc:creator>MLOps Teaching Demo</dc:creator>
  <cp:lastModifiedBy>Sirish Kumar</cp:lastModifiedBy>
  <cp:revision>1</cp:revision>
  <dcterms:created xsi:type="dcterms:W3CDTF">2026-06-12T13:52:17Z</dcterms:created>
  <dcterms:modified xsi:type="dcterms:W3CDTF">2026-06-12T13:55:27Z</dcterms:modified>
</cp:coreProperties>
</file>